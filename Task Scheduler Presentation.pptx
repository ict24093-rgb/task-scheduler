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B493"/>
    <a:srgbClr val="41EBC7"/>
    <a:srgbClr val="65BDD9"/>
    <a:srgbClr val="212F47"/>
    <a:srgbClr val="141D2B"/>
    <a:srgbClr val="6ACAD4"/>
    <a:srgbClr val="7CD6CD"/>
    <a:srgbClr val="11BA95"/>
    <a:srgbClr val="12BA96"/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41D2B"/>
            </a:gs>
            <a:gs pos="36000">
              <a:srgbClr val="141D2B"/>
            </a:gs>
            <a:gs pos="100000">
              <a:srgbClr val="212F47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ct24093-rgb/Task-Scheduler.git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50" y="3851906"/>
            <a:ext cx="10858500" cy="281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 dirty="0">
                <a:solidFill>
                  <a:srgbClr val="11CAA0"/>
                </a:solidFill>
                <a:latin typeface="DM Sans"/>
              </a:rPr>
              <a:t>DSA PRACTICAL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405" y="5794019"/>
            <a:ext cx="6675883" cy="900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lang="en-US" sz="1600" dirty="0">
                <a:solidFill>
                  <a:schemeClr val="bg1"/>
                </a:solidFill>
              </a:rPr>
              <a:t>Student Name: P. I. Tharindu Gamage </a:t>
            </a:r>
          </a:p>
          <a:p>
            <a:pPr>
              <a:lnSpc>
                <a:spcPts val="2400"/>
              </a:lnSpc>
            </a:pPr>
            <a:r>
              <a:rPr lang="en-US" sz="1600" dirty="0">
                <a:solidFill>
                  <a:schemeClr val="bg1"/>
                </a:solidFill>
              </a:rPr>
              <a:t>Student Registration Number: UWU/ICT/24/093 </a:t>
            </a:r>
          </a:p>
          <a:p>
            <a:pPr>
              <a:lnSpc>
                <a:spcPts val="2400"/>
              </a:lnSpc>
            </a:pPr>
            <a:r>
              <a:rPr lang="en-US" sz="1600" dirty="0">
                <a:solidFill>
                  <a:schemeClr val="bg1"/>
                </a:solidFill>
              </a:rPr>
              <a:t>Submission Date: July 18th, 2026 </a:t>
            </a:r>
            <a:endParaRPr sz="1500" b="0" i="0" u="none" dirty="0">
              <a:solidFill>
                <a:schemeClr val="bg1"/>
              </a:solidFill>
              <a:latin typeface="DM Sans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0"/>
            <a:ext cx="4000500" cy="24881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D39D88-2361-422C-BA5B-06AD6FC249C0}"/>
              </a:ext>
            </a:extLst>
          </p:cNvPr>
          <p:cNvSpPr txBox="1"/>
          <p:nvPr/>
        </p:nvSpPr>
        <p:spPr>
          <a:xfrm>
            <a:off x="1464563" y="1072335"/>
            <a:ext cx="926287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i="0" u="none" dirty="0">
                <a:gradFill flip="none" rotWithShape="1">
                  <a:gsLst>
                    <a:gs pos="0">
                      <a:srgbClr val="11BA95"/>
                    </a:gs>
                    <a:gs pos="61000">
                      <a:srgbClr val="6ACAD4"/>
                    </a:gs>
                    <a:gs pos="100000">
                      <a:srgbClr val="65BDD9"/>
                    </a:gs>
                  </a:gsLst>
                  <a:lin ang="5400000" scaled="1"/>
                  <a:tileRect/>
                </a:gradFill>
                <a:latin typeface="Merriweather"/>
              </a:rPr>
              <a:t>Priority-Driven</a:t>
            </a:r>
            <a:r>
              <a:rPr lang="en-US" sz="3600" dirty="0">
                <a:gradFill flip="none" rotWithShape="1">
                  <a:gsLst>
                    <a:gs pos="0">
                      <a:srgbClr val="11BA95"/>
                    </a:gs>
                    <a:gs pos="61000">
                      <a:srgbClr val="6ACAD4"/>
                    </a:gs>
                    <a:gs pos="100000">
                      <a:srgbClr val="65BDD9"/>
                    </a:gs>
                  </a:gsLst>
                  <a:lin ang="5400000" scaled="1"/>
                  <a:tileRect/>
                </a:gradFill>
              </a:rPr>
              <a:t>
</a:t>
            </a:r>
            <a:r>
              <a:rPr lang="en-US" sz="8000" b="1" i="0" u="none" dirty="0">
                <a:gradFill flip="none" rotWithShape="1">
                  <a:gsLst>
                    <a:gs pos="0">
                      <a:srgbClr val="11BA95"/>
                    </a:gs>
                    <a:gs pos="61000">
                      <a:srgbClr val="6ACAD4"/>
                    </a:gs>
                    <a:gs pos="100000">
                      <a:srgbClr val="65BDD9"/>
                    </a:gs>
                  </a:gsLst>
                  <a:lin ang="5400000" scaled="1"/>
                  <a:tileRect/>
                </a:gradFill>
                <a:latin typeface="Merriweather"/>
              </a:rPr>
              <a:t> Task Scheduler</a:t>
            </a:r>
          </a:p>
          <a:p>
            <a:endParaRPr lang="en-US" dirty="0">
              <a:gradFill flip="none" rotWithShape="1">
                <a:gsLst>
                  <a:gs pos="0">
                    <a:srgbClr val="11BA95"/>
                  </a:gs>
                  <a:gs pos="61000">
                    <a:srgbClr val="6ACAD4"/>
                  </a:gs>
                  <a:gs pos="100000">
                    <a:srgbClr val="65BDD9"/>
                  </a:gs>
                </a:gsLst>
                <a:lin ang="5400000" scaled="1"/>
                <a:tileRect/>
              </a:gra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623442"/>
            <a:ext cx="1143000" cy="38100"/>
          </a:xfrm>
          <a:prstGeom prst="rect">
            <a:avLst/>
          </a:prstGeom>
          <a:solidFill>
            <a:srgbClr val="11C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45706" y="661542"/>
            <a:ext cx="4700587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 dirty="0">
                <a:solidFill>
                  <a:srgbClr val="FFFFFF"/>
                </a:solidFill>
                <a:latin typeface="Merriweather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2249" y="1606604"/>
            <a:ext cx="66675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 dirty="0">
                <a:solidFill>
                  <a:srgbClr val="94A3B8"/>
                </a:solidFill>
                <a:latin typeface="DM Sans"/>
              </a:rPr>
              <a:t>An efficient 7-option framework for personal task prioritization and chronological scheduling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35" y="-283520"/>
            <a:ext cx="4000500" cy="23691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75F5DF-9B7F-4631-B9DA-354A213C8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929" y="2551666"/>
            <a:ext cx="6604141" cy="3800496"/>
          </a:xfrm>
          <a:prstGeom prst="rect">
            <a:avLst/>
          </a:prstGeom>
          <a:ln w="19050">
            <a:solidFill>
              <a:srgbClr val="13B493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25221B3-CC5A-4C74-B172-10C85A11EBA0}"/>
              </a:ext>
            </a:extLst>
          </p:cNvPr>
          <p:cNvGrpSpPr/>
          <p:nvPr/>
        </p:nvGrpSpPr>
        <p:grpSpPr>
          <a:xfrm>
            <a:off x="973932" y="1849040"/>
            <a:ext cx="9041454" cy="1305104"/>
            <a:chOff x="793900" y="4267318"/>
            <a:chExt cx="6193255" cy="1305104"/>
          </a:xfrm>
        </p:grpSpPr>
        <p:sp>
          <p:nvSpPr>
            <p:cNvPr id="5" name="TextBox 4"/>
            <p:cNvSpPr txBox="1"/>
            <p:nvPr/>
          </p:nvSpPr>
          <p:spPr>
            <a:xfrm>
              <a:off x="793900" y="4267318"/>
              <a:ext cx="4760595" cy="430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1" i="0" u="none">
                  <a:solidFill>
                    <a:srgbClr val="11CAA0"/>
                  </a:solidFill>
                  <a:latin typeface="Merriweather"/>
                </a:rPr>
                <a:t>The Challenge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38225" y="4802981"/>
              <a:ext cx="5948930" cy="7694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b="0" i="0" u="none" dirty="0">
                  <a:solidFill>
                    <a:srgbClr val="94A3B8"/>
                  </a:solidFill>
                  <a:latin typeface="DM Sans"/>
                </a:rPr>
                <a:t>Flat sequential registers require a sluggish $O(n)$ search time to isolate high-priority items. Additionally, volatile execution runtime results in permanent task data loss when sessions exit.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461D4D0-4D39-44EF-A406-6788BACF2A92}"/>
              </a:ext>
            </a:extLst>
          </p:cNvPr>
          <p:cNvGrpSpPr/>
          <p:nvPr/>
        </p:nvGrpSpPr>
        <p:grpSpPr>
          <a:xfrm>
            <a:off x="973932" y="4042122"/>
            <a:ext cx="9041454" cy="1226641"/>
            <a:chOff x="6431280" y="4345781"/>
            <a:chExt cx="7786586" cy="1226641"/>
          </a:xfrm>
        </p:grpSpPr>
        <p:sp>
          <p:nvSpPr>
            <p:cNvPr id="7" name="TextBox 6"/>
            <p:cNvSpPr txBox="1"/>
            <p:nvPr/>
          </p:nvSpPr>
          <p:spPr>
            <a:xfrm>
              <a:off x="6431280" y="4345781"/>
              <a:ext cx="4760595" cy="430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1" i="0" u="none" dirty="0">
                  <a:solidFill>
                    <a:srgbClr val="11CAA0"/>
                  </a:solidFill>
                  <a:latin typeface="Merriweather"/>
                </a:rPr>
                <a:t>The Solution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738461" y="4802981"/>
              <a:ext cx="7479405" cy="7694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b="0" i="0" u="none" dirty="0">
                  <a:solidFill>
                    <a:srgbClr val="94A3B8"/>
                  </a:solidFill>
                  <a:latin typeface="DM Sans"/>
                </a:rPr>
                <a:t>A comprehensive Java CLI Scheduler utilizing custom data structures (Min-Heap, Stack, and lists) coupled with date-math routines and direct flat-file tracking persistence.</a:t>
              </a:r>
            </a:p>
          </p:txBody>
        </p:sp>
      </p:grp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002" y="-377363"/>
            <a:ext cx="4000500" cy="2650331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C7540D2-8CDB-451D-9862-4B8768F940C3}"/>
              </a:ext>
            </a:extLst>
          </p:cNvPr>
          <p:cNvSpPr/>
          <p:nvPr/>
        </p:nvSpPr>
        <p:spPr>
          <a:xfrm>
            <a:off x="722257" y="523875"/>
            <a:ext cx="3015575" cy="457249"/>
          </a:xfrm>
          <a:prstGeom prst="roundRect">
            <a:avLst>
              <a:gd name="adj" fmla="val 5681"/>
            </a:avLst>
          </a:prstGeom>
          <a:noFill/>
          <a:ln w="28575">
            <a:solidFill>
              <a:srgbClr val="13B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rriweather" panose="00000500000000000000" pitchFamily="2" charset="0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00125" y="1487454"/>
            <a:ext cx="6110794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i="0" u="none" dirty="0">
                <a:solidFill>
                  <a:srgbClr val="FFFFFF"/>
                </a:solidFill>
                <a:latin typeface="DM Sans"/>
              </a:rPr>
              <a:t>7-Option Command Interface:</a:t>
            </a:r>
            <a:r>
              <a:rPr b="0" i="0" u="none" dirty="0">
                <a:solidFill>
                  <a:srgbClr val="94A3B8"/>
                </a:solidFill>
                <a:latin typeface="DM Sans"/>
              </a:rPr>
              <a:t> Streamlined main menus for scheduling, tracking, and sorting.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146464"/>
            <a:ext cx="6110794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i="0" u="none" dirty="0">
                <a:solidFill>
                  <a:srgbClr val="FFFFFF"/>
                </a:solidFill>
                <a:latin typeface="DM Sans"/>
              </a:rPr>
              <a:t>Core System Processor:</a:t>
            </a:r>
            <a:r>
              <a:rPr b="0" i="0" u="none" dirty="0">
                <a:solidFill>
                  <a:srgbClr val="94A3B8"/>
                </a:solidFill>
                <a:latin typeface="DM Sans"/>
              </a:rPr>
              <a:t> Central engine managing algorithms and chronological math.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2805475"/>
            <a:ext cx="6110794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i="0" u="none" dirty="0">
                <a:solidFill>
                  <a:srgbClr val="FFFFFF"/>
                </a:solidFill>
                <a:latin typeface="DM Sans"/>
              </a:rPr>
              <a:t>Flat File Persistence:</a:t>
            </a:r>
            <a:r>
              <a:rPr b="0" i="0" u="none" dirty="0">
                <a:solidFill>
                  <a:srgbClr val="94A3B8"/>
                </a:solidFill>
                <a:latin typeface="DM Sans"/>
              </a:rPr>
              <a:t> Keeps disk storage records current through automatic read/write cycles.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04999"/>
            <a:ext cx="1905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64010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562" y="0"/>
            <a:ext cx="4000500" cy="2019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823021"/>
            <a:ext cx="133350" cy="180975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3A86CF9-0091-40C9-BE7A-2D30D89E4BEE}"/>
              </a:ext>
            </a:extLst>
          </p:cNvPr>
          <p:cNvSpPr/>
          <p:nvPr/>
        </p:nvSpPr>
        <p:spPr>
          <a:xfrm>
            <a:off x="722257" y="523875"/>
            <a:ext cx="3015575" cy="457249"/>
          </a:xfrm>
          <a:prstGeom prst="roundRect">
            <a:avLst>
              <a:gd name="adj" fmla="val 5681"/>
            </a:avLst>
          </a:prstGeom>
          <a:noFill/>
          <a:ln w="28575">
            <a:solidFill>
              <a:srgbClr val="13B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rriweather" panose="00000500000000000000" pitchFamily="2" charset="0"/>
              </a:rPr>
              <a:t>System Architecture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FE0BA8-9360-488B-8935-289A2E3E6F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6970" y="3646281"/>
            <a:ext cx="4298059" cy="2473411"/>
          </a:xfrm>
          <a:prstGeom prst="rect">
            <a:avLst/>
          </a:prstGeom>
          <a:ln w="19050">
            <a:solidFill>
              <a:srgbClr val="13B493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AFDF2F-62EB-4E96-958B-59681FF20D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1224" y="1786787"/>
            <a:ext cx="3886537" cy="754445"/>
          </a:xfrm>
          <a:prstGeom prst="rect">
            <a:avLst/>
          </a:prstGeom>
          <a:ln w="19050">
            <a:solidFill>
              <a:srgbClr val="13B493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B38F210-4BA7-4C55-8267-8FA41A3B57D4}"/>
              </a:ext>
            </a:extLst>
          </p:cNvPr>
          <p:cNvSpPr/>
          <p:nvPr/>
        </p:nvSpPr>
        <p:spPr>
          <a:xfrm>
            <a:off x="299949" y="2538919"/>
            <a:ext cx="3832698" cy="259728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13B493"/>
              </a:gs>
              <a:gs pos="58500">
                <a:srgbClr val="84B1F3">
                  <a:alpha val="0"/>
                </a:srgbClr>
              </a:gs>
              <a:gs pos="29000">
                <a:srgbClr val="13B493">
                  <a:alpha val="23000"/>
                </a:srgb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145E1AC-2BFB-4177-A955-CBA188E5651A}"/>
              </a:ext>
            </a:extLst>
          </p:cNvPr>
          <p:cNvGrpSpPr/>
          <p:nvPr/>
        </p:nvGrpSpPr>
        <p:grpSpPr>
          <a:xfrm>
            <a:off x="733873" y="2675238"/>
            <a:ext cx="3166355" cy="1952030"/>
            <a:chOff x="952499" y="3962400"/>
            <a:chExt cx="3166355" cy="1952030"/>
          </a:xfrm>
        </p:grpSpPr>
        <p:sp>
          <p:nvSpPr>
            <p:cNvPr id="6" name="TextBox 5"/>
            <p:cNvSpPr txBox="1"/>
            <p:nvPr/>
          </p:nvSpPr>
          <p:spPr>
            <a:xfrm>
              <a:off x="952500" y="4552950"/>
              <a:ext cx="3166354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b="1" i="0" u="none" dirty="0">
                  <a:solidFill>
                    <a:srgbClr val="11CAA0"/>
                  </a:solidFill>
                  <a:latin typeface="Merriweather"/>
                </a:rPr>
                <a:t>Min-Heap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52499" y="4991100"/>
              <a:ext cx="3015575" cy="9233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sz="1600" b="0" i="0" u="none" dirty="0">
                  <a:solidFill>
                    <a:srgbClr val="94A3B8"/>
                  </a:solidFill>
                  <a:latin typeface="DM Sans"/>
                </a:rPr>
                <a:t>Our priority engine. Keeps the most urgent task (Priority 1) at the root, enabling super-fast lookup and balance speeds.</a:t>
              </a:r>
            </a:p>
          </p:txBody>
        </p:sp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2500" y="3962400"/>
              <a:ext cx="407607" cy="3429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165523-02A2-4214-A06C-2DE6A060B0C7}"/>
              </a:ext>
            </a:extLst>
          </p:cNvPr>
          <p:cNvGrpSpPr/>
          <p:nvPr/>
        </p:nvGrpSpPr>
        <p:grpSpPr>
          <a:xfrm>
            <a:off x="4651325" y="2675172"/>
            <a:ext cx="3033660" cy="1952030"/>
            <a:chOff x="4651325" y="3962400"/>
            <a:chExt cx="3033660" cy="1952030"/>
          </a:xfrm>
        </p:grpSpPr>
        <p:sp>
          <p:nvSpPr>
            <p:cNvPr id="8" name="TextBox 7"/>
            <p:cNvSpPr txBox="1"/>
            <p:nvPr/>
          </p:nvSpPr>
          <p:spPr>
            <a:xfrm>
              <a:off x="4651325" y="4552950"/>
              <a:ext cx="3033660" cy="2952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b="1" i="0" u="none">
                  <a:solidFill>
                    <a:srgbClr val="11CAA0"/>
                  </a:solidFill>
                  <a:latin typeface="Merriweather"/>
                </a:rPr>
                <a:t>LIFO Stack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51325" y="4991100"/>
              <a:ext cx="2889200" cy="9233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sz="1600" b="0" i="0" u="none" dirty="0">
                  <a:solidFill>
                    <a:srgbClr val="94A3B8"/>
                  </a:solidFill>
                  <a:latin typeface="DM Sans"/>
                </a:rPr>
                <a:t>The system's Trash Bin. Pushes deleted items onto a custom-managed stack to compile a robust session-wide audit log.</a:t>
              </a:r>
            </a:p>
          </p:txBody>
        </p:sp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51325" y="3962400"/>
              <a:ext cx="304800" cy="3429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36231E-8553-4F80-8E6D-C6AFFFAFC95C}"/>
              </a:ext>
            </a:extLst>
          </p:cNvPr>
          <p:cNvGrpSpPr/>
          <p:nvPr/>
        </p:nvGrpSpPr>
        <p:grpSpPr>
          <a:xfrm>
            <a:off x="8436082" y="2655782"/>
            <a:ext cx="3033660" cy="1721197"/>
            <a:chOff x="8350150" y="3962400"/>
            <a:chExt cx="3033660" cy="1721197"/>
          </a:xfrm>
        </p:grpSpPr>
        <p:sp>
          <p:nvSpPr>
            <p:cNvPr id="10" name="TextBox 9"/>
            <p:cNvSpPr txBox="1"/>
            <p:nvPr/>
          </p:nvSpPr>
          <p:spPr>
            <a:xfrm>
              <a:off x="8350150" y="4552950"/>
              <a:ext cx="3033660" cy="2952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b="1" i="0" u="none">
                  <a:solidFill>
                    <a:srgbClr val="11CAA0"/>
                  </a:solidFill>
                  <a:latin typeface="Merriweather"/>
                </a:rPr>
                <a:t>ArrayList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50150" y="4991100"/>
              <a:ext cx="2889200" cy="69249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sz="1600" b="0" i="0" u="none" dirty="0">
                  <a:solidFill>
                    <a:srgbClr val="94A3B8"/>
                  </a:solidFill>
                  <a:latin typeface="DM Sans"/>
                </a:rPr>
                <a:t>Flat sequential list wrapper used during iterative sorting routines and index selections in CLI menus.</a:t>
              </a:r>
            </a:p>
          </p:txBody>
        </p:sp>
        <p:pic>
          <p:nvPicPr>
            <p:cNvPr id="14" name="Picture 13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50150" y="3962400"/>
              <a:ext cx="342900" cy="342900"/>
            </a:xfrm>
            <a:prstGeom prst="rect">
              <a:avLst/>
            </a:prstGeom>
          </p:spPr>
        </p:pic>
      </p:grp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655" y="-161925"/>
            <a:ext cx="4000500" cy="222885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FB7B434-0704-4932-BD84-42662FB7D1F7}"/>
              </a:ext>
            </a:extLst>
          </p:cNvPr>
          <p:cNvSpPr/>
          <p:nvPr/>
        </p:nvSpPr>
        <p:spPr>
          <a:xfrm>
            <a:off x="722257" y="523875"/>
            <a:ext cx="3015575" cy="457249"/>
          </a:xfrm>
          <a:prstGeom prst="roundRect">
            <a:avLst>
              <a:gd name="adj" fmla="val 5681"/>
            </a:avLst>
          </a:prstGeom>
          <a:noFill/>
          <a:ln w="28575">
            <a:solidFill>
              <a:srgbClr val="13B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rriweather" panose="00000500000000000000" pitchFamily="2" charset="0"/>
              </a:rPr>
              <a:t>Core Data Structures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4EB95D0-A9FC-48D6-BDB3-39FD0674A7F5}"/>
              </a:ext>
            </a:extLst>
          </p:cNvPr>
          <p:cNvSpPr/>
          <p:nvPr/>
        </p:nvSpPr>
        <p:spPr>
          <a:xfrm>
            <a:off x="4251806" y="2538918"/>
            <a:ext cx="3832698" cy="259728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13B493"/>
              </a:gs>
              <a:gs pos="58500">
                <a:srgbClr val="84B1F3">
                  <a:alpha val="0"/>
                </a:srgbClr>
              </a:gs>
              <a:gs pos="29000">
                <a:srgbClr val="13B493">
                  <a:alpha val="23000"/>
                </a:srgb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2FBB00A-3C7F-4C14-B11A-515BFEBF469A}"/>
              </a:ext>
            </a:extLst>
          </p:cNvPr>
          <p:cNvSpPr/>
          <p:nvPr/>
        </p:nvSpPr>
        <p:spPr>
          <a:xfrm>
            <a:off x="8197764" y="2538919"/>
            <a:ext cx="3832698" cy="259728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13B493"/>
              </a:gs>
              <a:gs pos="58500">
                <a:srgbClr val="84B1F3">
                  <a:alpha val="0"/>
                </a:srgbClr>
              </a:gs>
              <a:gs pos="29000">
                <a:srgbClr val="13B493">
                  <a:alpha val="23000"/>
                </a:srgbClr>
              </a:gs>
              <a:gs pos="100000">
                <a:schemeClr val="accent1">
                  <a:tint val="50000"/>
                  <a:shade val="100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B3203AD-F5A4-4414-80EC-2C38ED575315}"/>
              </a:ext>
            </a:extLst>
          </p:cNvPr>
          <p:cNvSpPr/>
          <p:nvPr/>
        </p:nvSpPr>
        <p:spPr>
          <a:xfrm>
            <a:off x="8202757" y="5126492"/>
            <a:ext cx="3840480" cy="46529"/>
          </a:xfrm>
          <a:prstGeom prst="roundRect">
            <a:avLst>
              <a:gd name="adj" fmla="val 50000"/>
            </a:avLst>
          </a:prstGeom>
          <a:solidFill>
            <a:srgbClr val="41E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B931DFD-E81F-46EA-9A26-857467655B29}"/>
              </a:ext>
            </a:extLst>
          </p:cNvPr>
          <p:cNvSpPr/>
          <p:nvPr/>
        </p:nvSpPr>
        <p:spPr>
          <a:xfrm>
            <a:off x="4251688" y="5120924"/>
            <a:ext cx="3840480" cy="46529"/>
          </a:xfrm>
          <a:prstGeom prst="roundRect">
            <a:avLst>
              <a:gd name="adj" fmla="val 50000"/>
            </a:avLst>
          </a:prstGeom>
          <a:solidFill>
            <a:srgbClr val="41E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D144506-D305-46EC-8A1D-6A30DEE4341F}"/>
              </a:ext>
            </a:extLst>
          </p:cNvPr>
          <p:cNvSpPr/>
          <p:nvPr/>
        </p:nvSpPr>
        <p:spPr>
          <a:xfrm>
            <a:off x="294124" y="5112938"/>
            <a:ext cx="3840480" cy="46529"/>
          </a:xfrm>
          <a:prstGeom prst="roundRect">
            <a:avLst>
              <a:gd name="adj" fmla="val 50000"/>
            </a:avLst>
          </a:prstGeom>
          <a:solidFill>
            <a:srgbClr val="41E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22257" y="2030368"/>
            <a:ext cx="52387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6300" b="1" i="0" u="none" dirty="0">
                <a:solidFill>
                  <a:srgbClr val="11CAA0"/>
                </a:solidFill>
                <a:latin typeface="Merriweather"/>
              </a:rPr>
              <a:t>O(log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9605" y="2894409"/>
            <a:ext cx="5238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FFFFFF"/>
                </a:solidFill>
                <a:latin typeface="DM Sans Medium"/>
              </a:rPr>
              <a:t>Insertion &amp; Deletion Speeds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52479" y="3973017"/>
            <a:ext cx="550068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11CAA0"/>
                </a:solidFill>
                <a:latin typeface="Merriweather"/>
              </a:rPr>
              <a:t>Logarithmic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52480" y="4411143"/>
            <a:ext cx="5500686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600" b="0" i="0" u="none" dirty="0">
                <a:solidFill>
                  <a:srgbClr val="94A3B8"/>
                </a:solidFill>
                <a:latin typeface="DM Sans"/>
              </a:rPr>
              <a:t>Leveraging a balanced binary tree model allows our </a:t>
            </a:r>
            <a:r>
              <a:rPr sz="1600" b="0" i="0" u="none" dirty="0" err="1">
                <a:solidFill>
                  <a:srgbClr val="94A3B8"/>
                </a:solidFill>
                <a:latin typeface="DM Sans"/>
              </a:rPr>
              <a:t>heapify</a:t>
            </a:r>
            <a:r>
              <a:rPr sz="1600" b="0" i="0" u="none" dirty="0">
                <a:solidFill>
                  <a:srgbClr val="94A3B8"/>
                </a:solidFill>
                <a:latin typeface="DM Sans"/>
              </a:rPr>
              <a:t> algorithms to process insertions and extractions quickly along tree levels. Even with hundreds of tasks, priority adjustments are completed in milliseconds.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95" y="-79772"/>
            <a:ext cx="4000500" cy="322183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8FCC6F-04F8-41CA-AE42-23440C090CF9}"/>
              </a:ext>
            </a:extLst>
          </p:cNvPr>
          <p:cNvSpPr/>
          <p:nvPr/>
        </p:nvSpPr>
        <p:spPr>
          <a:xfrm>
            <a:off x="722257" y="523875"/>
            <a:ext cx="3015575" cy="457249"/>
          </a:xfrm>
          <a:prstGeom prst="roundRect">
            <a:avLst>
              <a:gd name="adj" fmla="val 5681"/>
            </a:avLst>
          </a:prstGeom>
          <a:noFill/>
          <a:ln w="28575">
            <a:solidFill>
              <a:srgbClr val="13B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rriweather" panose="00000500000000000000" pitchFamily="2" charset="0"/>
              </a:rPr>
              <a:t>Algorithmic Efficiency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2873" y="1624497"/>
            <a:ext cx="7911334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i="0" u="none" dirty="0">
                <a:solidFill>
                  <a:srgbClr val="94A3B8"/>
                </a:solidFill>
                <a:latin typeface="DM Sans"/>
              </a:rPr>
              <a:t>New tasks are placed initially at the lowest, rightmost leaf.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2873" y="2039728"/>
            <a:ext cx="7911334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i="0" u="none">
                <a:solidFill>
                  <a:srgbClr val="FFFFFF"/>
                </a:solidFill>
                <a:latin typeface="DM Sans"/>
              </a:rPr>
              <a:t>Heapify Up</a:t>
            </a:r>
            <a:r>
              <a:rPr b="0" i="0" u="none">
                <a:solidFill>
                  <a:srgbClr val="94A3B8"/>
                </a:solidFill>
                <a:latin typeface="DM Sans"/>
              </a:rPr>
              <a:t> checks if the parent node's priority values are lower.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2873" y="2454958"/>
            <a:ext cx="7911334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i="0" u="none">
                <a:solidFill>
                  <a:srgbClr val="94A3B8"/>
                </a:solidFill>
                <a:latin typeface="DM Sans"/>
              </a:rPr>
              <a:t>Recursively swaps nodes up the heap until proper parent order is satisfied.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5C9042-200B-4A10-9E14-5C5C346BE8F8}"/>
              </a:ext>
            </a:extLst>
          </p:cNvPr>
          <p:cNvGrpSpPr/>
          <p:nvPr/>
        </p:nvGrpSpPr>
        <p:grpSpPr>
          <a:xfrm>
            <a:off x="2809298" y="3140931"/>
            <a:ext cx="6573403" cy="2732433"/>
            <a:chOff x="6286500" y="4641651"/>
            <a:chExt cx="5238750" cy="1549598"/>
          </a:xfrm>
        </p:grpSpPr>
        <p:pic>
          <p:nvPicPr>
            <p:cNvPr id="2" name="Picture 1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0" y="4641651"/>
              <a:ext cx="5238750" cy="1549598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6538912" y="4840363"/>
              <a:ext cx="4733925" cy="15516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sz="2400" b="1" i="0" u="none" dirty="0">
                  <a:solidFill>
                    <a:srgbClr val="FFFFFF"/>
                  </a:solidFill>
                  <a:latin typeface="DM Sans"/>
                </a:rPr>
                <a:t>Mathematical Parent Mapping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538912" y="5140929"/>
              <a:ext cx="4733925" cy="27516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sz="2000" b="0" i="0" u="none" dirty="0">
                  <a:solidFill>
                    <a:srgbClr val="94A3B8"/>
                  </a:solidFill>
                  <a:latin typeface="DM Sans"/>
                </a:rPr>
                <a:t>Maps hierarchical relationships using zero-indexed arrays:</a:t>
              </a:r>
            </a:p>
          </p:txBody>
        </p:sp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2886"/>
                      </a14:imgEffect>
                      <a14:imgEffect>
                        <a14:saturation sat="16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828496" y="5566352"/>
              <a:ext cx="2154758" cy="240023"/>
            </a:xfrm>
            <a:prstGeom prst="rect">
              <a:avLst/>
            </a:prstGeom>
          </p:spPr>
        </p:pic>
      </p:grp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548" y="1635007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548" y="2050237"/>
            <a:ext cx="1333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548" y="2465468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6520" y="-165347"/>
            <a:ext cx="4000500" cy="3136701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89AFC0-A7C3-4107-A6CC-9CD6F16F1E52}"/>
              </a:ext>
            </a:extLst>
          </p:cNvPr>
          <p:cNvSpPr/>
          <p:nvPr/>
        </p:nvSpPr>
        <p:spPr>
          <a:xfrm>
            <a:off x="722257" y="523875"/>
            <a:ext cx="3015575" cy="457249"/>
          </a:xfrm>
          <a:prstGeom prst="roundRect">
            <a:avLst>
              <a:gd name="adj" fmla="val 5681"/>
            </a:avLst>
          </a:prstGeom>
          <a:noFill/>
          <a:ln w="28575">
            <a:solidFill>
              <a:srgbClr val="13B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rriweather" panose="00000500000000000000" pitchFamily="2" charset="0"/>
              </a:rPr>
              <a:t>The Insertion Process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43956E2-C4E9-4DB1-AC67-E5A936B9D6A6}"/>
              </a:ext>
            </a:extLst>
          </p:cNvPr>
          <p:cNvGrpSpPr/>
          <p:nvPr/>
        </p:nvGrpSpPr>
        <p:grpSpPr>
          <a:xfrm>
            <a:off x="3831677" y="3716018"/>
            <a:ext cx="7342370" cy="2321718"/>
            <a:chOff x="6286500" y="4012406"/>
            <a:chExt cx="5238750" cy="2321718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6286500" y="4012406"/>
              <a:ext cx="5238750" cy="2321718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6657975" y="4345781"/>
              <a:ext cx="4760595" cy="3693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1" i="0" u="none" dirty="0">
                  <a:solidFill>
                    <a:srgbClr val="11CAA0"/>
                  </a:solidFill>
                  <a:latin typeface="Merriweather"/>
                </a:rPr>
                <a:t>Chronological Sort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57975" y="4802981"/>
              <a:ext cx="4533900" cy="7594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sz="1600" b="0" i="0" u="none" dirty="0">
                  <a:solidFill>
                    <a:srgbClr val="94A3B8"/>
                  </a:solidFill>
                  <a:latin typeface="DM Sans"/>
                </a:rPr>
                <a:t>Runs a custom </a:t>
              </a:r>
              <a:r>
                <a:rPr sz="1600" b="1" i="0" u="none" dirty="0">
                  <a:solidFill>
                    <a:srgbClr val="FFFFFF"/>
                  </a:solidFill>
                  <a:latin typeface="DM Sans"/>
                </a:rPr>
                <a:t>Bubble Sort</a:t>
              </a:r>
              <a:r>
                <a:rPr sz="1600" b="0" i="0" u="none" dirty="0">
                  <a:solidFill>
                    <a:srgbClr val="94A3B8"/>
                  </a:solidFill>
                  <a:latin typeface="DM Sans"/>
                </a:rPr>
                <a:t> algorithm. Loops through task dates, parses strings into </a:t>
              </a:r>
              <a:r>
                <a:rPr sz="1600" b="0" i="0" u="none" dirty="0" err="1">
                  <a:solidFill>
                    <a:srgbClr val="94A3B8"/>
                  </a:solidFill>
                  <a:latin typeface="DM Sans"/>
                </a:rPr>
                <a:t>LocalDate</a:t>
              </a:r>
              <a:r>
                <a:rPr sz="1600" b="0" i="0" u="none" dirty="0">
                  <a:solidFill>
                    <a:srgbClr val="94A3B8"/>
                  </a:solidFill>
                  <a:latin typeface="DM Sans"/>
                </a:rPr>
                <a:t> objects, and rearranges items sequentially without affecting original heap priority values.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AEC6A96-E045-4908-BC58-EE7D7BBB54DA}"/>
              </a:ext>
            </a:extLst>
          </p:cNvPr>
          <p:cNvGrpSpPr/>
          <p:nvPr/>
        </p:nvGrpSpPr>
        <p:grpSpPr>
          <a:xfrm>
            <a:off x="1118456" y="1362510"/>
            <a:ext cx="7342371" cy="1972121"/>
            <a:chOff x="666750" y="4012406"/>
            <a:chExt cx="5238750" cy="1972121"/>
          </a:xfrm>
        </p:grpSpPr>
        <p:pic>
          <p:nvPicPr>
            <p:cNvPr id="2" name="Picture 1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750" y="4012406"/>
              <a:ext cx="5238750" cy="1972121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038225" y="4345781"/>
              <a:ext cx="4760595" cy="3693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1" i="0" u="none" dirty="0">
                  <a:solidFill>
                    <a:srgbClr val="11CAA0"/>
                  </a:solidFill>
                  <a:latin typeface="Merriweather"/>
                </a:rPr>
                <a:t>Closest Task Logic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38225" y="4802981"/>
              <a:ext cx="4533900" cy="502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039"/>
                </a:lnSpc>
              </a:pPr>
              <a:r>
                <a:rPr sz="1600" b="0" i="0" u="none" dirty="0">
                  <a:solidFill>
                    <a:srgbClr val="94A3B8"/>
                  </a:solidFill>
                  <a:latin typeface="DM Sans"/>
                </a:rPr>
                <a:t>Computes the absolute difference in days between today's system clock and scheduled task targets:</a:t>
              </a:r>
            </a:p>
          </p:txBody>
        </p:sp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831805" y="5467864"/>
              <a:ext cx="2908639" cy="285239"/>
            </a:xfrm>
            <a:prstGeom prst="rect">
              <a:avLst/>
            </a:prstGeom>
          </p:spPr>
        </p:pic>
      </p:grp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-451693"/>
            <a:ext cx="4000500" cy="2650331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F51C67-C2C0-4A38-BB59-D3A6BE0CB286}"/>
              </a:ext>
            </a:extLst>
          </p:cNvPr>
          <p:cNvSpPr/>
          <p:nvPr/>
        </p:nvSpPr>
        <p:spPr>
          <a:xfrm>
            <a:off x="722257" y="523875"/>
            <a:ext cx="3015575" cy="457249"/>
          </a:xfrm>
          <a:prstGeom prst="roundRect">
            <a:avLst>
              <a:gd name="adj" fmla="val 5681"/>
            </a:avLst>
          </a:prstGeom>
          <a:noFill/>
          <a:ln w="28575">
            <a:solidFill>
              <a:srgbClr val="13B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rriweather" panose="00000500000000000000" pitchFamily="2" charset="0"/>
              </a:rPr>
              <a:t>Deadline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076695"/>
              </p:ext>
            </p:extLst>
          </p:nvPr>
        </p:nvGraphicFramePr>
        <p:xfrm>
          <a:off x="722257" y="1669141"/>
          <a:ext cx="10858498" cy="3556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2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6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47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5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208"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chemeClr val="bg1"/>
                          </a:solidFill>
                          <a:latin typeface="DM Sans"/>
                        </a:rPr>
                        <a:t>Feature Operation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chemeClr val="bg1"/>
                          </a:solidFill>
                          <a:latin typeface="DM Sans"/>
                        </a:rPr>
                        <a:t>Custom Data Structure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chemeClr val="bg1"/>
                          </a:solidFill>
                          <a:latin typeface="DM Sans"/>
                        </a:rPr>
                        <a:t>Best 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 u="none" dirty="0">
                          <a:solidFill>
                            <a:schemeClr val="bg1"/>
                          </a:solidFill>
                          <a:latin typeface="DM Sans"/>
                        </a:rPr>
                        <a:t>Worst 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8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94A3B8"/>
                          </a:solidFill>
                          <a:latin typeface="DM Sans"/>
                        </a:rPr>
                        <a:t>Add New Tasks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DM Sans"/>
                        </a:rPr>
                        <a:t>Min-Heap Insertion (Heapify Up)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DM Sans"/>
                        </a:rPr>
                        <a:t>$O(1)$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DM Sans"/>
                        </a:rPr>
                        <a:t>$O(\log n)$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8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94A3B8"/>
                          </a:solidFill>
                          <a:latin typeface="DM Sans"/>
                        </a:rPr>
                        <a:t>Show Closest Task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DM Sans"/>
                        </a:rPr>
                        <a:t>Linear Date Difference Scan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DM Sans"/>
                        </a:rPr>
                        <a:t>$O(n)$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DM Sans"/>
                        </a:rPr>
                        <a:t>$O(n)$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8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94A3B8"/>
                          </a:solidFill>
                          <a:latin typeface="DM Sans"/>
                        </a:rPr>
                        <a:t>Show All Tasks (Priority)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DM Sans"/>
                        </a:rPr>
                        <a:t>Min-Heap extraction + ArrayList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DM Sans"/>
                        </a:rPr>
                        <a:t>$O(n)$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DM Sans"/>
                        </a:rPr>
                        <a:t>$O(n \log n)$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14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94A3B8"/>
                          </a:solidFill>
                          <a:latin typeface="DM Sans"/>
                        </a:rPr>
                        <a:t>Show All Tasks (Deadline)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 err="1">
                          <a:solidFill>
                            <a:srgbClr val="94A3B8"/>
                          </a:solidFill>
                          <a:latin typeface="DM Sans"/>
                        </a:rPr>
                        <a:t>ArrayList</a:t>
                      </a:r>
                      <a:r>
                        <a:rPr sz="1275" b="0" i="0" u="none" dirty="0">
                          <a:solidFill>
                            <a:srgbClr val="94A3B8"/>
                          </a:solidFill>
                          <a:latin typeface="DM Sans"/>
                        </a:rPr>
                        <a:t> + Temporal Bubble Sort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DM Sans"/>
                        </a:rPr>
                        <a:t>$O(n)$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94A3B8"/>
                          </a:solidFill>
                          <a:latin typeface="DM Sans"/>
                        </a:rPr>
                        <a:t>$O(n^2)$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563" y="-143124"/>
            <a:ext cx="4000500" cy="2248495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5496B67-35FE-4127-87DC-65A5EBEBEDEC}"/>
              </a:ext>
            </a:extLst>
          </p:cNvPr>
          <p:cNvSpPr/>
          <p:nvPr/>
        </p:nvSpPr>
        <p:spPr>
          <a:xfrm>
            <a:off x="722257" y="523875"/>
            <a:ext cx="3015575" cy="457249"/>
          </a:xfrm>
          <a:prstGeom prst="roundRect">
            <a:avLst>
              <a:gd name="adj" fmla="val 5681"/>
            </a:avLst>
          </a:prstGeom>
          <a:noFill/>
          <a:ln w="28575">
            <a:solidFill>
              <a:srgbClr val="13B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rriweather" panose="00000500000000000000" pitchFamily="2" charset="0"/>
              </a:rPr>
              <a:t>Complexity Matrix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8BF2356F-1FDF-49A5-8553-D2787C776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699397"/>
              </p:ext>
            </p:extLst>
          </p:nvPr>
        </p:nvGraphicFramePr>
        <p:xfrm>
          <a:off x="725214" y="1670686"/>
          <a:ext cx="10911047" cy="35560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6096">
                  <a:extLst>
                    <a:ext uri="{9D8B030D-6E8A-4147-A177-3AD203B41FA5}">
                      <a16:colId xmlns:a16="http://schemas.microsoft.com/office/drawing/2014/main" val="1215284919"/>
                    </a:ext>
                  </a:extLst>
                </a:gridCol>
                <a:gridCol w="3660007">
                  <a:extLst>
                    <a:ext uri="{9D8B030D-6E8A-4147-A177-3AD203B41FA5}">
                      <a16:colId xmlns:a16="http://schemas.microsoft.com/office/drawing/2014/main" val="3158743550"/>
                    </a:ext>
                  </a:extLst>
                </a:gridCol>
                <a:gridCol w="2206460">
                  <a:extLst>
                    <a:ext uri="{9D8B030D-6E8A-4147-A177-3AD203B41FA5}">
                      <a16:colId xmlns:a16="http://schemas.microsoft.com/office/drawing/2014/main" val="699383863"/>
                    </a:ext>
                  </a:extLst>
                </a:gridCol>
                <a:gridCol w="2288484">
                  <a:extLst>
                    <a:ext uri="{9D8B030D-6E8A-4147-A177-3AD203B41FA5}">
                      <a16:colId xmlns:a16="http://schemas.microsoft.com/office/drawing/2014/main" val="2811684560"/>
                    </a:ext>
                  </a:extLst>
                </a:gridCol>
              </a:tblGrid>
              <a:tr h="7186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086924"/>
                  </a:ext>
                </a:extLst>
              </a:tr>
              <a:tr h="709344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73574"/>
                  </a:ext>
                </a:extLst>
              </a:tr>
              <a:tr h="709344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445396"/>
                  </a:ext>
                </a:extLst>
              </a:tr>
              <a:tr h="709344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095946"/>
                  </a:ext>
                </a:extLst>
              </a:tr>
              <a:tr h="709344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2711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6750" y="1428750"/>
            <a:ext cx="5324147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i="0" u="none" dirty="0">
                <a:solidFill>
                  <a:srgbClr val="94A3B8"/>
                </a:solidFill>
                <a:latin typeface="DM Sans"/>
              </a:rPr>
              <a:t>The scheduler ensures user data is saved dynamically in </a:t>
            </a:r>
            <a:r>
              <a:rPr b="1" i="0" u="none" dirty="0">
                <a:solidFill>
                  <a:srgbClr val="FFFFFF"/>
                </a:solidFill>
                <a:latin typeface="DM Sans"/>
              </a:rPr>
              <a:t>tasks.txt</a:t>
            </a:r>
            <a:r>
              <a:rPr b="0" i="0" u="none" dirty="0">
                <a:solidFill>
                  <a:srgbClr val="94A3B8"/>
                </a:solidFill>
                <a:latin typeface="DM Sans"/>
              </a:rPr>
              <a:t>. Changes are updated locally after every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2079" y="2530476"/>
            <a:ext cx="4572000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 b="0" i="0" u="none" dirty="0">
                <a:solidFill>
                  <a:srgbClr val="94A3B8"/>
                </a:solidFill>
                <a:latin typeface="DM Sans"/>
              </a:rPr>
              <a:t>Saves states dynamically when records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079" y="2945707"/>
            <a:ext cx="4572000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 b="0" i="0" u="none" dirty="0">
                <a:solidFill>
                  <a:srgbClr val="94A3B8"/>
                </a:solidFill>
                <a:latin typeface="DM Sans"/>
              </a:rPr>
              <a:t>Auto-loads saved tasks when the application starts.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079" y="3360937"/>
            <a:ext cx="45720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 b="0" i="0" u="none" dirty="0">
                <a:solidFill>
                  <a:srgbClr val="94A3B8"/>
                </a:solidFill>
                <a:latin typeface="DM Sans"/>
              </a:rPr>
              <a:t>Deleted items are temporarily kept in memory inside a **LIFO Stack** for easy session review.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57" y="2577519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57" y="2992749"/>
            <a:ext cx="1333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57" y="3407980"/>
            <a:ext cx="190500" cy="18097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B32A62C-F423-411F-92BE-8378E7C0510B}"/>
              </a:ext>
            </a:extLst>
          </p:cNvPr>
          <p:cNvSpPr/>
          <p:nvPr/>
        </p:nvSpPr>
        <p:spPr>
          <a:xfrm>
            <a:off x="722257" y="523875"/>
            <a:ext cx="3015575" cy="457249"/>
          </a:xfrm>
          <a:prstGeom prst="roundRect">
            <a:avLst>
              <a:gd name="adj" fmla="val 5681"/>
            </a:avLst>
          </a:prstGeom>
          <a:noFill/>
          <a:ln w="28575">
            <a:solidFill>
              <a:srgbClr val="13B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rriweather" panose="00000500000000000000" pitchFamily="2" charset="0"/>
              </a:rPr>
              <a:t>File Persistence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2144DE-276B-4C6F-A633-D9DDA5D75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515" y="1366702"/>
            <a:ext cx="6200587" cy="2028497"/>
          </a:xfrm>
          <a:prstGeom prst="rect">
            <a:avLst/>
          </a:prstGeom>
          <a:ln w="28575">
            <a:solidFill>
              <a:srgbClr val="13B49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058B29-F4D1-4C29-BE33-21A6EFAE0A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516" y="3660226"/>
            <a:ext cx="6200586" cy="1705473"/>
          </a:xfrm>
          <a:prstGeom prst="rect">
            <a:avLst/>
          </a:prstGeom>
          <a:ln w="19050">
            <a:solidFill>
              <a:srgbClr val="13B49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38D1B4B-6D1F-4EC3-A765-1A7BE3E0880F}"/>
              </a:ext>
            </a:extLst>
          </p:cNvPr>
          <p:cNvGrpSpPr/>
          <p:nvPr/>
        </p:nvGrpSpPr>
        <p:grpSpPr>
          <a:xfrm>
            <a:off x="666898" y="2631011"/>
            <a:ext cx="3460701" cy="2620548"/>
            <a:chOff x="294124" y="2538919"/>
            <a:chExt cx="3840480" cy="262054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21626DB-2844-4B42-944D-0093BF31ACD1}"/>
                </a:ext>
              </a:extLst>
            </p:cNvPr>
            <p:cNvSpPr/>
            <p:nvPr/>
          </p:nvSpPr>
          <p:spPr>
            <a:xfrm>
              <a:off x="299949" y="2538919"/>
              <a:ext cx="3832698" cy="2597285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13B493"/>
                </a:gs>
                <a:gs pos="58500">
                  <a:srgbClr val="84B1F3">
                    <a:alpha val="0"/>
                  </a:srgbClr>
                </a:gs>
                <a:gs pos="29000">
                  <a:srgbClr val="13B493">
                    <a:alpha val="23000"/>
                  </a:srgbClr>
                </a:gs>
                <a:gs pos="100000">
                  <a:schemeClr val="accent1">
                    <a:tint val="50000"/>
                    <a:shade val="100000"/>
                    <a:satMod val="350000"/>
                    <a:alpha val="0"/>
                  </a:schemeClr>
                </a:gs>
              </a:gsLst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753A983-9E46-4E62-9EE2-87E936F80FA7}"/>
                </a:ext>
              </a:extLst>
            </p:cNvPr>
            <p:cNvSpPr/>
            <p:nvPr/>
          </p:nvSpPr>
          <p:spPr>
            <a:xfrm>
              <a:off x="294124" y="5112938"/>
              <a:ext cx="3840480" cy="46529"/>
            </a:xfrm>
            <a:prstGeom prst="roundRect">
              <a:avLst>
                <a:gd name="adj" fmla="val 50000"/>
              </a:avLst>
            </a:prstGeom>
            <a:solidFill>
              <a:srgbClr val="41EB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000275" y="3449364"/>
            <a:ext cx="303366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11CAA0"/>
                </a:solidFill>
                <a:latin typeface="Merriweather"/>
              </a:rPr>
              <a:t>Pointer Math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275" y="3887514"/>
            <a:ext cx="288920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chemeClr val="bg1"/>
                </a:solidFill>
                <a:latin typeface="DM Sans"/>
              </a:rPr>
              <a:t>Carefully managing indices during heap deletions resolved out-of-bounds exceptions while restructuring the binary heap array.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94D0540-EBE9-49E0-A3D2-B66F27A935A6}"/>
              </a:ext>
            </a:extLst>
          </p:cNvPr>
          <p:cNvGrpSpPr/>
          <p:nvPr/>
        </p:nvGrpSpPr>
        <p:grpSpPr>
          <a:xfrm>
            <a:off x="4365574" y="2618672"/>
            <a:ext cx="3460701" cy="2620548"/>
            <a:chOff x="294124" y="2538919"/>
            <a:chExt cx="3840480" cy="2620548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2F29C65-792D-4414-95BA-4F6948BA2430}"/>
                </a:ext>
              </a:extLst>
            </p:cNvPr>
            <p:cNvSpPr/>
            <p:nvPr/>
          </p:nvSpPr>
          <p:spPr>
            <a:xfrm>
              <a:off x="299949" y="2538919"/>
              <a:ext cx="3832698" cy="2597285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13B493"/>
                </a:gs>
                <a:gs pos="58500">
                  <a:srgbClr val="84B1F3">
                    <a:alpha val="0"/>
                  </a:srgbClr>
                </a:gs>
                <a:gs pos="29000">
                  <a:srgbClr val="13B493">
                    <a:alpha val="23000"/>
                  </a:srgbClr>
                </a:gs>
                <a:gs pos="100000">
                  <a:schemeClr val="accent1">
                    <a:tint val="50000"/>
                    <a:shade val="100000"/>
                    <a:satMod val="350000"/>
                    <a:alpha val="0"/>
                  </a:schemeClr>
                </a:gs>
              </a:gsLst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8833082-3210-4B4A-A2E4-C844E8ABEB94}"/>
                </a:ext>
              </a:extLst>
            </p:cNvPr>
            <p:cNvSpPr/>
            <p:nvPr/>
          </p:nvSpPr>
          <p:spPr>
            <a:xfrm>
              <a:off x="294124" y="5112938"/>
              <a:ext cx="3840480" cy="46529"/>
            </a:xfrm>
            <a:prstGeom prst="roundRect">
              <a:avLst>
                <a:gd name="adj" fmla="val 50000"/>
              </a:avLst>
            </a:prstGeom>
            <a:solidFill>
              <a:srgbClr val="41EB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651325" y="3449364"/>
            <a:ext cx="303366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CAA0"/>
                </a:solidFill>
                <a:latin typeface="Merriweather"/>
              </a:rPr>
              <a:t>Date Formatting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1325" y="3887514"/>
            <a:ext cx="28892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chemeClr val="bg1"/>
                </a:solidFill>
                <a:latin typeface="DM Sans"/>
              </a:rPr>
              <a:t>Standardized string-based deadlines using robust </a:t>
            </a:r>
            <a:r>
              <a:rPr sz="1600" b="0" i="0" u="none" dirty="0" err="1">
                <a:solidFill>
                  <a:schemeClr val="bg1"/>
                </a:solidFill>
                <a:latin typeface="DM Sans"/>
              </a:rPr>
              <a:t>LocalDate</a:t>
            </a:r>
            <a:r>
              <a:rPr sz="1600" b="0" i="0" u="none" dirty="0">
                <a:solidFill>
                  <a:schemeClr val="bg1"/>
                </a:solidFill>
                <a:latin typeface="DM Sans"/>
              </a:rPr>
              <a:t> formatters, preventing parse errors from invalid CLI entries.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F06F92F-B2F8-4DCB-8319-C1B3F10D48A3}"/>
              </a:ext>
            </a:extLst>
          </p:cNvPr>
          <p:cNvGrpSpPr/>
          <p:nvPr/>
        </p:nvGrpSpPr>
        <p:grpSpPr>
          <a:xfrm>
            <a:off x="8059152" y="2608162"/>
            <a:ext cx="3460701" cy="2620548"/>
            <a:chOff x="294124" y="2538919"/>
            <a:chExt cx="3840480" cy="2620548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A090B43-A60D-4330-BE90-7CD419C0FE79}"/>
                </a:ext>
              </a:extLst>
            </p:cNvPr>
            <p:cNvSpPr/>
            <p:nvPr/>
          </p:nvSpPr>
          <p:spPr>
            <a:xfrm>
              <a:off x="299949" y="2538919"/>
              <a:ext cx="3832698" cy="2597285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13B493"/>
                </a:gs>
                <a:gs pos="58500">
                  <a:srgbClr val="84B1F3">
                    <a:alpha val="0"/>
                  </a:srgbClr>
                </a:gs>
                <a:gs pos="29000">
                  <a:srgbClr val="13B493">
                    <a:alpha val="23000"/>
                  </a:srgbClr>
                </a:gs>
                <a:gs pos="100000">
                  <a:schemeClr val="accent1">
                    <a:tint val="50000"/>
                    <a:shade val="100000"/>
                    <a:satMod val="350000"/>
                    <a:alpha val="0"/>
                  </a:schemeClr>
                </a:gs>
              </a:gsLst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2AABC83-693B-4B14-8D66-87376EA1CDA0}"/>
                </a:ext>
              </a:extLst>
            </p:cNvPr>
            <p:cNvSpPr/>
            <p:nvPr/>
          </p:nvSpPr>
          <p:spPr>
            <a:xfrm>
              <a:off x="294124" y="5112938"/>
              <a:ext cx="3840480" cy="46529"/>
            </a:xfrm>
            <a:prstGeom prst="roundRect">
              <a:avLst>
                <a:gd name="adj" fmla="val 50000"/>
              </a:avLst>
            </a:prstGeom>
            <a:solidFill>
              <a:srgbClr val="41EB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350000" y="3449364"/>
            <a:ext cx="303366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CAA0"/>
                </a:solidFill>
                <a:latin typeface="Merriweather"/>
              </a:rPr>
              <a:t>Stream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0000" y="3887514"/>
            <a:ext cx="288920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chemeClr val="bg1"/>
                </a:solidFill>
                <a:latin typeface="DM Sans"/>
              </a:rPr>
              <a:t>Utilized stream checks to gracefully handle empty storage files and avoid null pointer exceptions during application startup.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275" y="2858814"/>
            <a:ext cx="42862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325" y="2858814"/>
            <a:ext cx="3048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000" y="2858814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0" y="-361926"/>
            <a:ext cx="4000500" cy="222885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D06BBFE-6EDB-4F00-BABA-E54500CF10D5}"/>
              </a:ext>
            </a:extLst>
          </p:cNvPr>
          <p:cNvSpPr/>
          <p:nvPr/>
        </p:nvSpPr>
        <p:spPr>
          <a:xfrm>
            <a:off x="722257" y="523875"/>
            <a:ext cx="3015575" cy="457249"/>
          </a:xfrm>
          <a:prstGeom prst="roundRect">
            <a:avLst>
              <a:gd name="adj" fmla="val 5681"/>
            </a:avLst>
          </a:prstGeom>
          <a:noFill/>
          <a:ln w="28575">
            <a:solidFill>
              <a:srgbClr val="13B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erriweather" panose="00000500000000000000" pitchFamily="2" charset="0"/>
              </a:rPr>
              <a:t>Challenges &amp; Lessons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45756" y="2771923"/>
            <a:ext cx="3900487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FFFFFF"/>
                </a:solidFill>
                <a:latin typeface="Merriweather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29162" y="4114948"/>
            <a:ext cx="27336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>
                <a:solidFill>
                  <a:srgbClr val="11CAA0"/>
                </a:solidFill>
                <a:latin typeface="DM Sans"/>
              </a:rPr>
              <a:t>GitHub Code Repository Link: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0291" y="5867074"/>
            <a:ext cx="3385491" cy="467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200" b="0" i="0" u="none" dirty="0">
                <a:solidFill>
                  <a:srgbClr val="94A3B8"/>
                </a:solidFill>
                <a:latin typeface="DM Sans"/>
              </a:rPr>
              <a:t>P. I. Tharindu Gamage</a:t>
            </a:r>
            <a:r>
              <a:rPr sz="1200" b="0" i="0" u="none" dirty="0">
                <a:solidFill>
                  <a:srgbClr val="94A3B8"/>
                </a:solidFill>
                <a:latin typeface="DM Sans"/>
              </a:rPr>
              <a:t>|</a:t>
            </a:r>
            <a:r>
              <a:rPr lang="en-US" sz="1200" b="0" i="0" u="none" dirty="0">
                <a:solidFill>
                  <a:srgbClr val="94A3B8"/>
                </a:solidFill>
                <a:latin typeface="DM Sans"/>
              </a:rPr>
              <a:t> UWU/ICT/24/093</a:t>
            </a:r>
            <a:r>
              <a:rPr dirty="0"/>
              <a:t>
</a:t>
            </a:r>
            <a:r>
              <a:rPr sz="1200" b="0" i="0" u="none" dirty="0">
                <a:solidFill>
                  <a:srgbClr val="94A3B8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DM Sans"/>
              </a:rPr>
              <a:t>Uva</a:t>
            </a:r>
            <a:r>
              <a:rPr sz="1200" b="0" i="0" u="none" dirty="0">
                <a:solidFill>
                  <a:srgbClr val="94A3B8"/>
                </a:solidFill>
                <a:latin typeface="DM Sans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DM Sans"/>
              </a:rPr>
              <a:t>Wellassa</a:t>
            </a:r>
            <a:r>
              <a:rPr sz="1200" b="0" i="0" u="none" dirty="0">
                <a:solidFill>
                  <a:srgbClr val="94A3B8"/>
                </a:solidFill>
                <a:latin typeface="DM Sans"/>
              </a:rPr>
              <a:t> University of Sri Lanka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523875"/>
            <a:ext cx="4000500" cy="224804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E7926E-182F-4383-AEE7-7D766D8B9092}"/>
              </a:ext>
            </a:extLst>
          </p:cNvPr>
          <p:cNvSpPr/>
          <p:nvPr/>
        </p:nvSpPr>
        <p:spPr>
          <a:xfrm>
            <a:off x="3309888" y="4493260"/>
            <a:ext cx="5566299" cy="563695"/>
          </a:xfrm>
          <a:prstGeom prst="roundRect">
            <a:avLst>
              <a:gd name="adj" fmla="val 18242"/>
            </a:avLst>
          </a:prstGeom>
          <a:solidFill>
            <a:srgbClr val="1E293B"/>
          </a:solidFill>
          <a:ln w="12700">
            <a:solidFill>
              <a:srgbClr val="12BA9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65BDD9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https://github.com/ict24093-rgb/Task-Scheduler.git</a:t>
            </a:r>
            <a:endParaRPr lang="en-US" dirty="0">
              <a:solidFill>
                <a:srgbClr val="65BDD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618</Words>
  <Application>Microsoft Office PowerPoint</Application>
  <PresentationFormat>Widescreen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DM Sans</vt:lpstr>
      <vt:lpstr>DM Sans Medium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Tharindu</cp:lastModifiedBy>
  <cp:revision>13</cp:revision>
  <dcterms:created xsi:type="dcterms:W3CDTF">2013-01-27T09:14:16Z</dcterms:created>
  <dcterms:modified xsi:type="dcterms:W3CDTF">2026-07-19T00:32:08Z</dcterms:modified>
  <cp:category/>
</cp:coreProperties>
</file>